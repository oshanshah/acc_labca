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E56B1C-375A-4AA1-8D8D-C204224FBDA5}">
  <a:tblStyle styleId="{25E56B1C-375A-4AA1-8D8D-C204224FBD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18" name="Google Shape;18;p3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21" name="Google Shape;21;p3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3"/>
          <p:cNvSpPr txBox="1"/>
          <p:nvPr/>
        </p:nvSpPr>
        <p:spPr>
          <a:xfrm>
            <a:off x="771205" y="1084936"/>
            <a:ext cx="7604333" cy="1107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ML-Based Predictive Cloud Resource Management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771205" y="2271370"/>
            <a:ext cx="7604333" cy="395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A383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A3831"/>
                </a:solidFill>
                <a:latin typeface="Calibri"/>
                <a:ea typeface="Calibri"/>
                <a:cs typeface="Calibri"/>
                <a:sym typeface="Calibri"/>
              </a:rPr>
              <a:t>Using Anomaly Detection and Adaptive Auto-Scaling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771205" y="3141421"/>
            <a:ext cx="7604333" cy="711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Platform: AWS EC2 (Ubuntu, t3.micro, eu-north-1)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Neeraj Apraj</a:t>
            </a:r>
            <a:r>
              <a:rPr b="0" i="0" lang="en-US" sz="16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16010123212 </a:t>
            </a:r>
            <a:r>
              <a:rPr b="0" i="0" lang="en-US" sz="16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|  </a:t>
            </a: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16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Oshan Shah</a:t>
            </a: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|  16010123223 |  	</a:t>
            </a:r>
            <a:endParaRPr sz="16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Advanced Cloud Computing | Zaheed Shaikh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1625" y="152400"/>
            <a:ext cx="1209900" cy="1209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34" name="Google Shape;34;p4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35" name="Google Shape;35;p4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4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37" name="Google Shape;37;p4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38" name="Google Shape;38;p4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" name="Google Shape;40;p4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" name="Google Shape;41;p4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Problem and 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94360" y="1164031"/>
            <a:ext cx="2564252" cy="2689250"/>
          </a:xfrm>
          <a:prstGeom prst="roundRect">
            <a:avLst>
              <a:gd fmla="val 285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726994" y="1258946"/>
            <a:ext cx="2298984" cy="249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Reactive scaling is late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VMs take about 5 minutes to boot. Traffic spikes hit before new capacity is ready, so latency rises and SLAs are missed.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91246" y="1164031"/>
            <a:ext cx="2564252" cy="2689250"/>
          </a:xfrm>
          <a:prstGeom prst="roundRect">
            <a:avLst>
              <a:gd fmla="val 285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3423879" y="1258946"/>
            <a:ext cx="2298984" cy="249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Over-provisioning wastes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Keeping spare VMs always on avoids slowdowns but burns money and energy during quiet periods.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88131" y="1164031"/>
            <a:ext cx="2564252" cy="2689250"/>
          </a:xfrm>
          <a:prstGeom prst="roundRect">
            <a:avLst>
              <a:gd fmla="val 2853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120765" y="1258946"/>
            <a:ext cx="2298984" cy="249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 load 10 minutes ahead, detect anomalies, and scale adaptively, falling back to reactive control when the forecast cannot be trusted.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1625" y="152400"/>
            <a:ext cx="1209900" cy="1209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5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55" name="Google Shape;55;p5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56" name="Google Shape;56;p5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58" name="Google Shape;58;p5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59" name="Google Shape;59;p5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5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" name="Google Shape;61;p5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5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17515" y="1084936"/>
            <a:ext cx="8311713" cy="2372868"/>
          </a:xfrm>
          <a:prstGeom prst="roundRect">
            <a:avLst>
              <a:gd fmla="val 3854" name="adj"/>
            </a:avLst>
          </a:prstGeom>
          <a:solidFill>
            <a:srgbClr val="FFFFFF"/>
          </a:solidFill>
          <a:ln cap="flat" cmpd="sng" w="1905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550149" y="1124483"/>
            <a:ext cx="3536899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AWS EC2 (Ubuntu, t3.micro)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50149" y="1836344"/>
            <a:ext cx="1193703" cy="870052"/>
          </a:xfrm>
          <a:prstGeom prst="roundRect">
            <a:avLst>
              <a:gd fmla="val 8408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550149" y="1836344"/>
            <a:ext cx="1193703" cy="87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 / Traffic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920697" y="1836344"/>
            <a:ext cx="1193703" cy="870052"/>
          </a:xfrm>
          <a:prstGeom prst="roundRect">
            <a:avLst>
              <a:gd fmla="val 8408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1920697" y="1836344"/>
            <a:ext cx="1193703" cy="87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App on VMs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291246" y="1836344"/>
            <a:ext cx="1193703" cy="870052"/>
          </a:xfrm>
          <a:prstGeom prst="roundRect">
            <a:avLst>
              <a:gd fmla="val 8408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3291246" y="1836344"/>
            <a:ext cx="1193703" cy="87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 Collector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3372" y="1361770"/>
            <a:ext cx="1370548" cy="1977390"/>
          </a:xfrm>
          <a:prstGeom prst="roundRect">
            <a:avLst>
              <a:gd fmla="val 5337" name="adj"/>
            </a:avLst>
          </a:prstGeom>
          <a:solidFill>
            <a:srgbClr val="EEF2F6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4573372" y="1385499"/>
            <a:ext cx="1370548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ML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61794" y="1678153"/>
            <a:ext cx="1193703" cy="751408"/>
          </a:xfrm>
          <a:prstGeom prst="roundRect">
            <a:avLst>
              <a:gd fmla="val 7301" name="adj"/>
            </a:avLst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4661794" y="1678153"/>
            <a:ext cx="1193703" cy="75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Detector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(Isolation Forest)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661794" y="2508656"/>
            <a:ext cx="1193703" cy="751408"/>
          </a:xfrm>
          <a:prstGeom prst="roundRect">
            <a:avLst>
              <a:gd fmla="val 7301" name="adj"/>
            </a:avLst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4661794" y="2508656"/>
            <a:ext cx="1193703" cy="75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(Random Forest, 10 min)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032343" y="1836344"/>
            <a:ext cx="1193703" cy="870052"/>
          </a:xfrm>
          <a:prstGeom prst="roundRect">
            <a:avLst>
              <a:gd fmla="val 8408" name="adj"/>
            </a:avLst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6032343" y="1836344"/>
            <a:ext cx="1193703" cy="87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Scaling Decision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402891" y="1836344"/>
            <a:ext cx="1193703" cy="870052"/>
          </a:xfrm>
          <a:prstGeom prst="roundRect">
            <a:avLst>
              <a:gd fmla="val 8408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/>
        </p:nvSpPr>
        <p:spPr>
          <a:xfrm>
            <a:off x="7402891" y="1836344"/>
            <a:ext cx="1193703" cy="87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API: add / remove VMs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1743852" y="2271370"/>
            <a:ext cx="176845" cy="0"/>
          </a:xfrm>
          <a:prstGeom prst="straightConnector1">
            <a:avLst/>
          </a:prstGeom>
          <a:noFill/>
          <a:ln cap="flat" cmpd="sng" w="19050">
            <a:solidFill>
              <a:srgbClr val="4A55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5"/>
          <p:cNvCxnSpPr/>
          <p:nvPr/>
        </p:nvCxnSpPr>
        <p:spPr>
          <a:xfrm>
            <a:off x="3114401" y="2271370"/>
            <a:ext cx="176845" cy="0"/>
          </a:xfrm>
          <a:prstGeom prst="straightConnector1">
            <a:avLst/>
          </a:prstGeom>
          <a:noFill/>
          <a:ln cap="flat" cmpd="sng" w="19050">
            <a:solidFill>
              <a:srgbClr val="4A55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" name="Google Shape;83;p5"/>
          <p:cNvCxnSpPr/>
          <p:nvPr/>
        </p:nvCxnSpPr>
        <p:spPr>
          <a:xfrm>
            <a:off x="4484949" y="2271370"/>
            <a:ext cx="176845" cy="0"/>
          </a:xfrm>
          <a:prstGeom prst="straightConnector1">
            <a:avLst/>
          </a:prstGeom>
          <a:noFill/>
          <a:ln cap="flat" cmpd="sng" w="19050">
            <a:solidFill>
              <a:srgbClr val="4A55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" name="Google Shape;84;p5"/>
          <p:cNvCxnSpPr/>
          <p:nvPr/>
        </p:nvCxnSpPr>
        <p:spPr>
          <a:xfrm>
            <a:off x="5943920" y="2271370"/>
            <a:ext cx="88422" cy="0"/>
          </a:xfrm>
          <a:prstGeom prst="straightConnector1">
            <a:avLst/>
          </a:prstGeom>
          <a:noFill/>
          <a:ln cap="flat" cmpd="sng" w="19050">
            <a:solidFill>
              <a:srgbClr val="4A55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" name="Google Shape;85;p5"/>
          <p:cNvCxnSpPr/>
          <p:nvPr/>
        </p:nvCxnSpPr>
        <p:spPr>
          <a:xfrm>
            <a:off x="7226046" y="2271370"/>
            <a:ext cx="176845" cy="0"/>
          </a:xfrm>
          <a:prstGeom prst="straightConnector1">
            <a:avLst/>
          </a:prstGeom>
          <a:noFill/>
          <a:ln cap="flat" cmpd="sng" w="19050">
            <a:solidFill>
              <a:srgbClr val="4A55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p5"/>
          <p:cNvSpPr txBox="1"/>
          <p:nvPr/>
        </p:nvSpPr>
        <p:spPr>
          <a:xfrm>
            <a:off x="594360" y="3615995"/>
            <a:ext cx="7958023" cy="276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Feedback loop: recent forecast error sets the adaptive safety buffer (5 to 30%)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94360" y="3971925"/>
            <a:ext cx="7958023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Scaling actions are simulated with a 5-minute VM boot delay; the ML models run on the real EC2 VM.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1625" y="152400"/>
            <a:ext cx="1209900" cy="1209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95" name="Google Shape;95;p6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96" name="Google Shape;96;p6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98" name="Google Shape;98;p6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99" name="Google Shape;99;p6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6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6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6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Implementation on AWS EC2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launch.png" id="103" name="Google Shape;1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1084936"/>
            <a:ext cx="4067434" cy="196811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 txBox="1"/>
          <p:nvPr/>
        </p:nvSpPr>
        <p:spPr>
          <a:xfrm>
            <a:off x="594360" y="3180969"/>
            <a:ext cx="4067434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EC2 launch: Ubuntu Server 26.04 LTS, t3.micro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run.png" id="105" name="Google Shape;10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7062" y="1084936"/>
            <a:ext cx="3625322" cy="5733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 txBox="1"/>
          <p:nvPr/>
        </p:nvSpPr>
        <p:spPr>
          <a:xfrm>
            <a:off x="4927062" y="1796796"/>
            <a:ext cx="3625322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Instance running in eu-north-1 (Stockholm)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inst.png" id="107" name="Google Shape;10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7062" y="2113178"/>
            <a:ext cx="3625322" cy="5186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4927062" y="2785491"/>
            <a:ext cx="3625322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Python environment installed on the VM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594360" y="3497351"/>
            <a:ext cx="7958023" cy="790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Python venv: numpy, pandas, scikit-learn, matplotlib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Workload, models and simulator run in one script (manager.py)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Browser SSH (EC2 Instance Connect); results served over port 8000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2550" y="152400"/>
            <a:ext cx="978900" cy="978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7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117" name="Google Shape;117;p7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118" name="Google Shape;118;p7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7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120" name="Google Shape;120;p7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121" name="Google Shape;121;p7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7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7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7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Input Data and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1.png" id="125" name="Google Shape;12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834" y="1005840"/>
            <a:ext cx="7121076" cy="177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594360" y="2943682"/>
            <a:ext cx="2564252" cy="1265530"/>
          </a:xfrm>
          <a:prstGeom prst="roundRect">
            <a:avLst>
              <a:gd fmla="val 5780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726994" y="3038597"/>
            <a:ext cx="2298984" cy="1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Workload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Generated 7-day trace, 1-min steps: daily cycle, noise, 12 random spikes.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291246" y="2943682"/>
            <a:ext cx="2564252" cy="1265530"/>
          </a:xfrm>
          <a:prstGeom prst="roundRect">
            <a:avLst>
              <a:gd fmla="val 5780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3423879" y="3038597"/>
            <a:ext cx="2298984" cy="1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Lags (1 to 30 min), rolling mean/std, rate of change, time-of-day sin/cos.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988131" y="2943682"/>
            <a:ext cx="2564252" cy="1265530"/>
          </a:xfrm>
          <a:prstGeom prst="roundRect">
            <a:avLst>
              <a:gd fmla="val 5780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6120765" y="3038597"/>
            <a:ext cx="2298984" cy="1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70% train (7,028 rows), 30% test (3,012), chronological to avoid leakage.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81625" y="152400"/>
            <a:ext cx="1209900" cy="1209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139" name="Google Shape;139;p8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140" name="Google Shape;140;p8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142" name="Google Shape;142;p8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143" name="Google Shape;143;p8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8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8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8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Algorithms and Prediction Horizon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94360" y="1084936"/>
            <a:ext cx="3890589" cy="1977390"/>
          </a:xfrm>
          <a:prstGeom prst="roundRect">
            <a:avLst>
              <a:gd fmla="val 3699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726994" y="1179850"/>
            <a:ext cx="3625322" cy="17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Forecaster: Random Forest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Handles non-linear patterns, trains fast, needs little tuning. Predicts load 10 minutes ahead. Baselines: naive "future = now" and reactive scaling.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661794" y="1084936"/>
            <a:ext cx="3890589" cy="1977390"/>
          </a:xfrm>
          <a:prstGeom prst="roundRect">
            <a:avLst>
              <a:gd fmla="val 3699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4794428" y="1179850"/>
            <a:ext cx="3625322" cy="17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Anomaly detector: Isolation Forest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Unsupervised, so no labelled anomalies are needed. Uses load, rolling std and rate of change to flag sudden spikes (2% contamination).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94360" y="3260065"/>
            <a:ext cx="7958023" cy="949147"/>
          </a:xfrm>
          <a:prstGeom prst="roundRect">
            <a:avLst>
              <a:gd fmla="val 7707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771205" y="3299612"/>
            <a:ext cx="7604333" cy="870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Why a 10-minute horizon?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VM needs about 5 minutes to boot, so the forecast must look further ahead than that. Longer horizons lose accuracy.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1625" y="152400"/>
            <a:ext cx="1209900" cy="1209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9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160" name="Google Shape;160;p9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161" name="Google Shape;161;p9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9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163" name="Google Shape;163;p9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164" name="Google Shape;164;p9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9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9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Adaptive Auto-Scaling Design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94360" y="1084936"/>
            <a:ext cx="1901083" cy="1740103"/>
          </a:xfrm>
          <a:prstGeom prst="roundRect">
            <a:avLst>
              <a:gd fmla="val 4204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726994" y="1179850"/>
            <a:ext cx="1635816" cy="155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  Forecast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Predict load 10 minutes ahead from the latest metrics.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628077" y="1084936"/>
            <a:ext cx="1901083" cy="1740103"/>
          </a:xfrm>
          <a:prstGeom prst="roundRect">
            <a:avLst>
              <a:gd fmla="val 4204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2760711" y="1179850"/>
            <a:ext cx="1635816" cy="155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  Add buffer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Headroom of 5 to 30%, set by recent forecast error (adaptive).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661794" y="1084936"/>
            <a:ext cx="1901083" cy="1740103"/>
          </a:xfrm>
          <a:prstGeom prst="roundRect">
            <a:avLst>
              <a:gd fmla="val 4204" name="adj"/>
            </a:avLst>
          </a:prstGeom>
          <a:solidFill>
            <a:srgbClr val="FFF1DB"/>
          </a:solidFill>
          <a:ln cap="flat" cmpd="sng" w="12700">
            <a:solidFill>
              <a:srgbClr val="FFF1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4794428" y="1179850"/>
            <a:ext cx="1635816" cy="155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3  Check anomaly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If flagged: go reactive with 30% extra headroom.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695511" y="1084936"/>
            <a:ext cx="1901083" cy="1740103"/>
          </a:xfrm>
          <a:prstGeom prst="roundRect">
            <a:avLst>
              <a:gd fmla="val 4204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6828145" y="1179850"/>
            <a:ext cx="1635816" cy="155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4  Scale safely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Scale in 1 VM per minute; keep a minimum of 2 VMs.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594360" y="2983230"/>
            <a:ext cx="7958023" cy="55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VMs needed = load / (100 req/min x 0.7 target utilization)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ML mode = max( reactive need, forecast x (1 + adaptive buffer) 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94360" y="3615995"/>
            <a:ext cx="7958023" cy="632765"/>
          </a:xfrm>
          <a:prstGeom prst="roundRect">
            <a:avLst>
              <a:gd fmla="val 11561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771205" y="3615995"/>
            <a:ext cx="7604333" cy="632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Assumptions: 5-min VM boot  |  $0.05 per VM-hour  |  100 to 200 W per VM  |  SLA violation = latency &gt; 500 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2525" y="152400"/>
            <a:ext cx="1169100" cy="116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0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186" name="Google Shape;186;p10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187" name="Google Shape;187;p10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0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189" name="Google Shape;189;p10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190" name="Google Shape;190;p10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0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0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0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Prediction Accuracy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94360" y="1084936"/>
            <a:ext cx="1901083" cy="1265530"/>
          </a:xfrm>
          <a:prstGeom prst="roundRect">
            <a:avLst>
              <a:gd fmla="val 5780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682782" y="1124483"/>
            <a:ext cx="1724238" cy="1186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31.5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MAE (naive baseline: 37.0)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628077" y="1084936"/>
            <a:ext cx="1901083" cy="1265530"/>
          </a:xfrm>
          <a:prstGeom prst="roundRect">
            <a:avLst>
              <a:gd fmla="val 5780" name="adj"/>
            </a:avLst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2716500" y="1124483"/>
            <a:ext cx="1724238" cy="1186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lower error than naive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661794" y="1084936"/>
            <a:ext cx="1901083" cy="1265530"/>
          </a:xfrm>
          <a:prstGeom prst="roundRect">
            <a:avLst>
              <a:gd fmla="val 5780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4750217" y="1124483"/>
            <a:ext cx="1724238" cy="1186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8.8%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695511" y="1084936"/>
            <a:ext cx="1901083" cy="1265530"/>
          </a:xfrm>
          <a:prstGeom prst="roundRect">
            <a:avLst>
              <a:gd fmla="val 5780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6783934" y="1124483"/>
            <a:ext cx="1724238" cy="1186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anomaly minutes flagged of 3,012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acc.png" id="202" name="Google Shape;2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642" y="2548204"/>
            <a:ext cx="5014363" cy="94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 txBox="1"/>
          <p:nvPr/>
        </p:nvSpPr>
        <p:spPr>
          <a:xfrm>
            <a:off x="594360" y="3576447"/>
            <a:ext cx="5216926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Output from the EC2 instance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6076554" y="2548204"/>
            <a:ext cx="2475829" cy="150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RMSE (86.8) is far above MAE because errors concentrate at the random spikes, which no model can predict in advance.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3275" y="152400"/>
            <a:ext cx="1108200" cy="1108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1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212" name="Google Shape;212;p11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213" name="Google Shape;213;p11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1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215" name="Google Shape;215;p11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216" name="Google Shape;216;p11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1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1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1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Results: Reactive vs ML-Based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11"/>
          <p:cNvGraphicFramePr/>
          <p:nvPr/>
        </p:nvGraphicFramePr>
        <p:xfrm>
          <a:off x="5943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{25E56B1C-375A-4AA1-8D8D-C204224FBDA5}</a:tableStyleId>
              </a:tblPr>
              <a:tblGrid>
                <a:gridCol w="1503175"/>
                <a:gridCol w="1149500"/>
                <a:gridCol w="1149500"/>
                <a:gridCol w="11495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Reactive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ML-based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Change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Avg utilization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63.2%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57.9%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-5.3 pts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Avg latency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180.0 ms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146.9 ms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-18%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p95 latency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203.8 ms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156.1 ms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-23%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SLA violations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1.16%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0.50%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-57%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VM-hours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314.3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342.9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+9.1%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Cost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$15.71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$17.14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+9.1%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Energy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51.46 kWh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</a:rPr>
                        <a:t>54.33 kWh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4213D"/>
                          </a:solidFill>
                        </a:rPr>
                        <a:t>+5.6%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pic>
        <p:nvPicPr>
          <p:cNvPr descr="img/tab.png" id="221" name="Google Shape;22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3429000"/>
            <a:ext cx="347472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/>
          <p:nvPr/>
        </p:nvSpPr>
        <p:spPr>
          <a:xfrm>
            <a:off x="5811286" y="1005840"/>
            <a:ext cx="2741097" cy="830504"/>
          </a:xfrm>
          <a:prstGeom prst="roundRect">
            <a:avLst>
              <a:gd fmla="val 8808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5899709" y="1045388"/>
            <a:ext cx="2564252" cy="75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-57%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 violations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811286" y="1954987"/>
            <a:ext cx="2741097" cy="830504"/>
          </a:xfrm>
          <a:prstGeom prst="roundRect">
            <a:avLst>
              <a:gd fmla="val 8808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5899709" y="1994535"/>
            <a:ext cx="2564252" cy="75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-23%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p95 latency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811286" y="2904134"/>
            <a:ext cx="2741097" cy="830504"/>
          </a:xfrm>
          <a:prstGeom prst="roundRect">
            <a:avLst>
              <a:gd fmla="val 8808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5899709" y="2943682"/>
            <a:ext cx="2564252" cy="75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+9%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cost for the extra headroom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5811286" y="3813734"/>
            <a:ext cx="2741097" cy="395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Better latency and SLA compliance, paid for with slightly higher cost and energy.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8600" y="152400"/>
            <a:ext cx="1143000" cy="114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2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236" name="Google Shape;236;p12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237" name="Google Shape;237;p12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2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239" name="Google Shape;239;p12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240" name="Google Shape;240;p12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2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2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2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Forecast, Scaling and Spike Behaviour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2.png" id="244" name="Google Shape;2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665" y="1005840"/>
            <a:ext cx="4114203" cy="3084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fig3.png" id="245" name="Google Shape;24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46019" y="1005840"/>
            <a:ext cx="3006364" cy="75133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5546019" y="1836344"/>
            <a:ext cx="3006364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Zoom: VMs during a spike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546019" y="2192274"/>
            <a:ext cx="3006364" cy="2056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ML (orange) adds VMs before the daily peak; reactive (blue) follows after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Red dots mark anomalies flagged on spikes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Spikes start at random, so the 5-min boot delay still causes some SLA misses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35175" y="152400"/>
            <a:ext cx="956400" cy="956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3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255" name="Google Shape;255;p13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256" name="Google Shape;256;p13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3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258" name="Google Shape;258;p13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259" name="Google Shape;259;p13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3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3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3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What If the Prediction Is Wrong?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94360" y="1005840"/>
            <a:ext cx="2564252" cy="1937842"/>
          </a:xfrm>
          <a:prstGeom prst="roundRect">
            <a:avLst>
              <a:gd fmla="val 3775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726994" y="1100755"/>
            <a:ext cx="2298984" cy="174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Under-predict (-30%)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p95 latency 156 to 193 ms, SLA 0.50% to 0.63%, cost -6%. Still better than reactive (1.16%).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3291246" y="1005840"/>
            <a:ext cx="2564252" cy="1937842"/>
          </a:xfrm>
          <a:prstGeom prst="roundRect">
            <a:avLst>
              <a:gd fmla="val 3775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 txBox="1"/>
          <p:nvPr/>
        </p:nvSpPr>
        <p:spPr>
          <a:xfrm>
            <a:off x="3423879" y="1100755"/>
            <a:ext cx="2298984" cy="174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Over-predict (+40%)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latency (85 ms) but cost $27.50 (+60%), energy +38%, utilization only 36%.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988131" y="1005840"/>
            <a:ext cx="2564252" cy="1937842"/>
          </a:xfrm>
          <a:prstGeom prst="roundRect">
            <a:avLst>
              <a:gd fmla="val 3775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6120765" y="1100755"/>
            <a:ext cx="2298984" cy="174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Safeguards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Reactive floor, anomaly fallback, adaptive buffer, gradual scale-in, retraining on drift.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wrong.png" id="269" name="Google Shape;26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83" y="3022778"/>
            <a:ext cx="7890577" cy="94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 txBox="1"/>
          <p:nvPr/>
        </p:nvSpPr>
        <p:spPr>
          <a:xfrm>
            <a:off x="594360" y="3892829"/>
            <a:ext cx="7958023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Wrong-prediction experiment output from the EC2 instance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98350" y="152400"/>
            <a:ext cx="1093200" cy="1093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4"/>
          <p:cNvGrpSpPr/>
          <p:nvPr/>
        </p:nvGrpSpPr>
        <p:grpSpPr>
          <a:xfrm>
            <a:off x="0" y="-72330"/>
            <a:ext cx="354182" cy="4171563"/>
            <a:chOff x="0" y="-38100"/>
            <a:chExt cx="186565" cy="2197367"/>
          </a:xfrm>
        </p:grpSpPr>
        <p:sp>
          <p:nvSpPr>
            <p:cNvPr id="278" name="Google Shape;278;p14"/>
            <p:cNvSpPr/>
            <p:nvPr/>
          </p:nvSpPr>
          <p:spPr>
            <a:xfrm>
              <a:off x="0" y="0"/>
              <a:ext cx="186565" cy="2159267"/>
            </a:xfrm>
            <a:custGeom>
              <a:rect b="b" l="l" r="r" t="t"/>
              <a:pathLst>
                <a:path extrusionOk="0" h="2159267" w="186565">
                  <a:moveTo>
                    <a:pt x="0" y="0"/>
                  </a:moveTo>
                  <a:lnTo>
                    <a:pt x="186565" y="0"/>
                  </a:lnTo>
                  <a:lnTo>
                    <a:pt x="186565" y="2159267"/>
                  </a:lnTo>
                  <a:lnTo>
                    <a:pt x="0" y="2159267"/>
                  </a:lnTo>
                  <a:close/>
                </a:path>
              </a:pathLst>
            </a:custGeom>
            <a:solidFill>
              <a:srgbClr val="DA3831"/>
            </a:solidFill>
            <a:ln>
              <a:noFill/>
            </a:ln>
          </p:spPr>
        </p:sp>
        <p:sp>
          <p:nvSpPr>
            <p:cNvPr id="279" name="Google Shape;279;p14"/>
            <p:cNvSpPr txBox="1"/>
            <p:nvPr/>
          </p:nvSpPr>
          <p:spPr>
            <a:xfrm>
              <a:off x="0" y="-38100"/>
              <a:ext cx="186565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4"/>
          <p:cNvGrpSpPr/>
          <p:nvPr/>
        </p:nvGrpSpPr>
        <p:grpSpPr>
          <a:xfrm>
            <a:off x="0" y="-81663"/>
            <a:ext cx="229436" cy="5225163"/>
            <a:chOff x="0" y="-38100"/>
            <a:chExt cx="120855" cy="2752349"/>
          </a:xfrm>
        </p:grpSpPr>
        <p:sp>
          <p:nvSpPr>
            <p:cNvPr id="281" name="Google Shape;281;p14"/>
            <p:cNvSpPr/>
            <p:nvPr/>
          </p:nvSpPr>
          <p:spPr>
            <a:xfrm>
              <a:off x="0" y="0"/>
              <a:ext cx="120855" cy="2714249"/>
            </a:xfrm>
            <a:custGeom>
              <a:rect b="b" l="l" r="r" t="t"/>
              <a:pathLst>
                <a:path extrusionOk="0" h="2714249" w="120855">
                  <a:moveTo>
                    <a:pt x="0" y="0"/>
                  </a:moveTo>
                  <a:lnTo>
                    <a:pt x="120855" y="0"/>
                  </a:lnTo>
                  <a:lnTo>
                    <a:pt x="120855" y="2714249"/>
                  </a:lnTo>
                  <a:lnTo>
                    <a:pt x="0" y="2714249"/>
                  </a:lnTo>
                  <a:close/>
                </a:path>
              </a:pathLst>
            </a:custGeom>
            <a:solidFill>
              <a:srgbClr val="A83033"/>
            </a:solidFill>
            <a:ln>
              <a:noFill/>
            </a:ln>
          </p:spPr>
        </p:sp>
        <p:sp>
          <p:nvSpPr>
            <p:cNvPr id="282" name="Google Shape;282;p14"/>
            <p:cNvSpPr txBox="1"/>
            <p:nvPr/>
          </p:nvSpPr>
          <p:spPr>
            <a:xfrm>
              <a:off x="0" y="-38100"/>
              <a:ext cx="120855" cy="2752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4"/>
          <p:cNvSpPr/>
          <p:nvPr/>
        </p:nvSpPr>
        <p:spPr>
          <a:xfrm>
            <a:off x="8111007" y="4391548"/>
            <a:ext cx="636774" cy="475204"/>
          </a:xfrm>
          <a:custGeom>
            <a:rect b="b" l="l" r="r" t="t"/>
            <a:pathLst>
              <a:path extrusionOk="0" h="950409" w="1273548">
                <a:moveTo>
                  <a:pt x="0" y="0"/>
                </a:moveTo>
                <a:lnTo>
                  <a:pt x="1273548" y="0"/>
                </a:lnTo>
                <a:lnTo>
                  <a:pt x="1273548" y="950408"/>
                </a:lnTo>
                <a:lnTo>
                  <a:pt x="0" y="95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4"/>
          <p:cNvSpPr/>
          <p:nvPr/>
        </p:nvSpPr>
        <p:spPr>
          <a:xfrm>
            <a:off x="514350" y="4375070"/>
            <a:ext cx="1583479" cy="515350"/>
          </a:xfrm>
          <a:custGeom>
            <a:rect b="b" l="l" r="r" t="t"/>
            <a:pathLst>
              <a:path extrusionOk="0" h="1030701" w="3166959">
                <a:moveTo>
                  <a:pt x="0" y="0"/>
                </a:moveTo>
                <a:lnTo>
                  <a:pt x="3166959" y="0"/>
                </a:lnTo>
                <a:lnTo>
                  <a:pt x="3166959" y="1030701"/>
                </a:lnTo>
                <a:lnTo>
                  <a:pt x="0" y="1030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4"/>
          <p:cNvSpPr txBox="1"/>
          <p:nvPr/>
        </p:nvSpPr>
        <p:spPr>
          <a:xfrm>
            <a:off x="594360" y="274320"/>
            <a:ext cx="795802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Conclusion and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94360" y="1084936"/>
            <a:ext cx="3890589" cy="2056486"/>
          </a:xfrm>
          <a:prstGeom prst="roundRect">
            <a:avLst>
              <a:gd fmla="val 3557" name="adj"/>
            </a:avLst>
          </a:prstGeom>
          <a:solidFill>
            <a:srgbClr val="1D3057"/>
          </a:solidFill>
          <a:ln cap="flat" cmpd="sng" w="12700">
            <a:solidFill>
              <a:srgbClr val="1D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 txBox="1"/>
          <p:nvPr/>
        </p:nvSpPr>
        <p:spPr>
          <a:xfrm>
            <a:off x="726994" y="1179850"/>
            <a:ext cx="3625322" cy="186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10-minute Random Forest forecast plus anomaly-aware scaling cut SLA violations by 57% and p95 latency by 23%, at about 9% more cost.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661794" y="1084936"/>
            <a:ext cx="3890589" cy="2056486"/>
          </a:xfrm>
          <a:prstGeom prst="roundRect">
            <a:avLst>
              <a:gd fmla="val 3557" name="adj"/>
            </a:avLst>
          </a:prstGeom>
          <a:solidFill>
            <a:srgbClr val="1D3057"/>
          </a:solidFill>
          <a:ln cap="flat" cmpd="sng" w="12700">
            <a:solidFill>
              <a:srgbClr val="1D3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 txBox="1"/>
          <p:nvPr/>
        </p:nvSpPr>
        <p:spPr>
          <a:xfrm>
            <a:off x="4794428" y="1179850"/>
            <a:ext cx="3625322" cy="186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an LSTM forecaster, replay real Azure/Google traces, and move from simulated to live scaling with boto3 and Auto Scaling Groups.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term.png" id="290" name="Google Shape;2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32" y="3339160"/>
            <a:ext cx="3894667" cy="55366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 txBox="1"/>
          <p:nvPr/>
        </p:nvSpPr>
        <p:spPr>
          <a:xfrm>
            <a:off x="594360" y="3932377"/>
            <a:ext cx="3979012" cy="237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EC2 instance terminated after the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1400" y="152400"/>
            <a:ext cx="1260300" cy="1260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